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60" r:id="rId1"/>
  </p:sldMasterIdLst>
  <p:notesMasterIdLst>
    <p:notesMasterId r:id="rId22"/>
  </p:notesMasterIdLst>
  <p:sldIdLst>
    <p:sldId id="284" r:id="rId2"/>
    <p:sldId id="286" r:id="rId3"/>
    <p:sldId id="287" r:id="rId4"/>
    <p:sldId id="288" r:id="rId5"/>
    <p:sldId id="289" r:id="rId6"/>
    <p:sldId id="290" r:id="rId7"/>
    <p:sldId id="304" r:id="rId8"/>
    <p:sldId id="305" r:id="rId9"/>
    <p:sldId id="292" r:id="rId10"/>
    <p:sldId id="306" r:id="rId11"/>
    <p:sldId id="294" r:id="rId12"/>
    <p:sldId id="307" r:id="rId13"/>
    <p:sldId id="308" r:id="rId14"/>
    <p:sldId id="295" r:id="rId15"/>
    <p:sldId id="309" r:id="rId16"/>
    <p:sldId id="301" r:id="rId17"/>
    <p:sldId id="302" r:id="rId18"/>
    <p:sldId id="310" r:id="rId19"/>
    <p:sldId id="303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F6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84449" autoAdjust="0"/>
  </p:normalViewPr>
  <p:slideViewPr>
    <p:cSldViewPr snapToGrid="0" showGuides="1">
      <p:cViewPr varScale="1">
        <p:scale>
          <a:sx n="93" d="100"/>
          <a:sy n="93" d="100"/>
        </p:scale>
        <p:origin x="1326" y="90"/>
      </p:cViewPr>
      <p:guideLst>
        <p:guide orient="horz" pos="2183"/>
        <p:guide pos="3840"/>
        <p:guide pos="5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23637-4194-5544-82D8-6522158544D4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AE2D9-7463-9E42-8648-07CE0ED2F1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99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956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Parallele Implementation am Ende zeigen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4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Tabellenergebnisse Zeigen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24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folie_1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E3E7A29-4E83-94C5-5774-5064A2B4CB4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9003" b="57705"/>
          <a:stretch/>
        </p:blipFill>
        <p:spPr>
          <a:xfrm>
            <a:off x="5424488" y="2628900"/>
            <a:ext cx="1343024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31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folie_2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F84319F-928F-0CE1-BCB2-F1F048150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5927" y="2268855"/>
            <a:ext cx="1160145" cy="23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75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1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reieck 3">
            <a:extLst>
              <a:ext uri="{FF2B5EF4-FFF2-40B4-BE49-F238E27FC236}">
                <a16:creationId xmlns:a16="http://schemas.microsoft.com/office/drawing/2014/main" id="{677C2F4A-35A7-0B95-5D21-A3491FA452FB}"/>
              </a:ext>
            </a:extLst>
          </p:cNvPr>
          <p:cNvSpPr/>
          <p:nvPr userDrawn="1"/>
        </p:nvSpPr>
        <p:spPr>
          <a:xfrm rot="5400000">
            <a:off x="-857251" y="857250"/>
            <a:ext cx="3429002" cy="171450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A1AE235-C769-6827-D1C9-B053E93A1374}"/>
              </a:ext>
            </a:extLst>
          </p:cNvPr>
          <p:cNvSpPr/>
          <p:nvPr userDrawn="1"/>
        </p:nvSpPr>
        <p:spPr>
          <a:xfrm>
            <a:off x="1844455" y="1"/>
            <a:ext cx="3429000" cy="3429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1CD9DCF-39AD-3723-18E5-C59F03A48201}"/>
              </a:ext>
            </a:extLst>
          </p:cNvPr>
          <p:cNvSpPr/>
          <p:nvPr userDrawn="1"/>
        </p:nvSpPr>
        <p:spPr>
          <a:xfrm>
            <a:off x="8757285" y="3429000"/>
            <a:ext cx="3434715" cy="34347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C110625-EAD8-C31D-3AA2-6403E3CA4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7FCF2A46-03C9-464D-F52B-9AA0F5FFEF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713" y="5713896"/>
            <a:ext cx="8019014" cy="531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Source Sans Pro Semibold" panose="020B0503030403020204" pitchFamily="34" charset="77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A15FA90-8F5A-E465-A87E-D79D35476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13" y="4279507"/>
            <a:ext cx="8018463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497FD316-0C62-B682-638E-EB816702D4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149" y="4973639"/>
            <a:ext cx="8009130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15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1_Bild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ieck 3">
            <a:extLst>
              <a:ext uri="{FF2B5EF4-FFF2-40B4-BE49-F238E27FC236}">
                <a16:creationId xmlns:a16="http://schemas.microsoft.com/office/drawing/2014/main" id="{176088AB-1C74-3DD4-6FB8-5175FA94C7A5}"/>
              </a:ext>
            </a:extLst>
          </p:cNvPr>
          <p:cNvSpPr/>
          <p:nvPr userDrawn="1"/>
        </p:nvSpPr>
        <p:spPr>
          <a:xfrm rot="5400000">
            <a:off x="-857251" y="857250"/>
            <a:ext cx="3429002" cy="171450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032C81A6-3C1E-B4E8-1A4E-A395F2109BD9}"/>
              </a:ext>
            </a:extLst>
          </p:cNvPr>
          <p:cNvSpPr/>
          <p:nvPr userDrawn="1"/>
        </p:nvSpPr>
        <p:spPr>
          <a:xfrm>
            <a:off x="1844455" y="1"/>
            <a:ext cx="3429000" cy="3429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5DE260-FD58-DA36-1C86-8AC1242CE193}"/>
              </a:ext>
            </a:extLst>
          </p:cNvPr>
          <p:cNvSpPr/>
          <p:nvPr userDrawn="1"/>
        </p:nvSpPr>
        <p:spPr>
          <a:xfrm>
            <a:off x="8757285" y="3429000"/>
            <a:ext cx="3434715" cy="34347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9DAA5C4-E3EF-5939-256A-251D31271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ED2133F-0EF3-F20E-4355-5B51DEADC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713" y="5713896"/>
            <a:ext cx="8019014" cy="531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Source Sans Pro Semibold" panose="020B0503030403020204" pitchFamily="34" charset="77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D3AEA1E6-4575-A612-7295-C6501DBCA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713" y="4279507"/>
            <a:ext cx="8018463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6F95178D-0B03-690B-9CC8-373ED17EE6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49" y="4973639"/>
            <a:ext cx="8009130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6A4F60-42DD-CBF4-33D4-217277ACA9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667" r="16667"/>
          <a:stretch/>
        </p:blipFill>
        <p:spPr>
          <a:xfrm>
            <a:off x="1838227" y="0"/>
            <a:ext cx="3441600" cy="3441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98089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2_Bild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5">
            <a:extLst>
              <a:ext uri="{FF2B5EF4-FFF2-40B4-BE49-F238E27FC236}">
                <a16:creationId xmlns:a16="http://schemas.microsoft.com/office/drawing/2014/main" id="{313BB677-75C8-AC70-4AA1-E8ABDC301A21}"/>
              </a:ext>
            </a:extLst>
          </p:cNvPr>
          <p:cNvSpPr>
            <a:spLocks/>
          </p:cNvSpPr>
          <p:nvPr userDrawn="1"/>
        </p:nvSpPr>
        <p:spPr>
          <a:xfrm>
            <a:off x="7620000" y="3429000"/>
            <a:ext cx="0" cy="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50000" b="5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Bildplatzhalter 19">
            <a:extLst>
              <a:ext uri="{FF2B5EF4-FFF2-40B4-BE49-F238E27FC236}">
                <a16:creationId xmlns:a16="http://schemas.microsoft.com/office/drawing/2014/main" id="{ACD412C7-20CB-9C84-F9C4-CE5E9078B64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8682038" cy="3429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Source Sans Pro Light" panose="020B0403030403020204" pitchFamily="34" charset="77"/>
              </a:defRPr>
            </a:lvl1pPr>
          </a:lstStyle>
          <a:p>
            <a:r>
              <a:rPr lang="de-DE" dirty="0"/>
              <a:t>Bildgröße:</a:t>
            </a:r>
            <a:br>
              <a:rPr lang="de-DE" dirty="0"/>
            </a:br>
            <a:r>
              <a:rPr lang="de-DE" dirty="0"/>
              <a:t>B=15,6cm x H=9,5cm</a:t>
            </a:r>
          </a:p>
        </p:txBody>
      </p:sp>
      <p:sp>
        <p:nvSpPr>
          <p:cNvPr id="23" name="Dreieck 1">
            <a:extLst>
              <a:ext uri="{FF2B5EF4-FFF2-40B4-BE49-F238E27FC236}">
                <a16:creationId xmlns:a16="http://schemas.microsoft.com/office/drawing/2014/main" id="{1AB07D2B-5085-0DC7-CCCD-4015FA74F650}"/>
              </a:ext>
            </a:extLst>
          </p:cNvPr>
          <p:cNvSpPr/>
          <p:nvPr userDrawn="1"/>
        </p:nvSpPr>
        <p:spPr>
          <a:xfrm rot="5400000">
            <a:off x="7825885" y="4285154"/>
            <a:ext cx="3429001" cy="171669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13A8A9E-44EF-FBD1-51F2-6F77C20286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26" name="Oval 2">
            <a:extLst>
              <a:ext uri="{FF2B5EF4-FFF2-40B4-BE49-F238E27FC236}">
                <a16:creationId xmlns:a16="http://schemas.microsoft.com/office/drawing/2014/main" id="{5D7FE4EC-3283-194A-8F93-2EA1C47A649D}"/>
              </a:ext>
            </a:extLst>
          </p:cNvPr>
          <p:cNvSpPr/>
          <p:nvPr userDrawn="1"/>
        </p:nvSpPr>
        <p:spPr>
          <a:xfrm>
            <a:off x="10477500" y="3429001"/>
            <a:ext cx="3429000" cy="3429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995E85A-B722-4579-88C9-7C06EEFCDF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713" y="4259483"/>
            <a:ext cx="8017565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AEDFC919-1AAF-9FC2-75AE-175719E66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163" y="4973638"/>
            <a:ext cx="8017565" cy="579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F377E1E-1BD8-A1FA-5145-C0D2ED674E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6163" y="5715558"/>
            <a:ext cx="8017565" cy="5318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19771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FAA6ED7-9CBB-25AE-A53B-E72FAB438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5433" y="1807200"/>
            <a:ext cx="9043200" cy="3708000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2pPr>
            <a:lvl3pPr marL="1257300" indent="-3429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3pPr>
            <a:lvl4pPr>
              <a:defRPr b="0" i="0">
                <a:latin typeface="Source Sans Pro Light" panose="020B0403030403020204" pitchFamily="34" charset="77"/>
              </a:defRPr>
            </a:lvl4pPr>
            <a:lvl5pPr>
              <a:defRPr b="0" i="0">
                <a:latin typeface="Source Sans Pro Light" panose="020B0403030403020204" pitchFamily="34" charset="77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F10469D-5E5C-BFE9-2B43-E42DBAD5C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D6C2D87B-177B-49E9-E768-69563737BEEE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E33F967E-E357-5D5D-F36D-2BBB5E712E80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0F7F26E2-8C91-17E9-7835-7F401FF1CCC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382175" y="342000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3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E6F64B-6C3E-0EA6-A702-ACF2BDC1D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5C5A38D-4D41-9812-3A7C-D909137C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b="0" dirty="0">
              <a:latin typeface="Source Sans Pro Light" panose="020B0403030403020204" pitchFamily="34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356589-41C4-B317-3579-3624594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98B2B58-1311-08AA-DB2D-E4FFA91D194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80125" y="2211392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13CA8DF2-2008-8849-1715-8871F1FEB1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816776BE-D52E-E2AF-5580-353ED3BF2E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5488728D-3305-7DD3-9DF7-96CAE1A829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Dreieck 2">
            <a:extLst>
              <a:ext uri="{FF2B5EF4-FFF2-40B4-BE49-F238E27FC236}">
                <a16:creationId xmlns:a16="http://schemas.microsoft.com/office/drawing/2014/main" id="{9459242A-1B7F-F84F-EDB4-074EED125AC2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3AA0731-DC4B-6E6C-D454-46EAA872FDBB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D489BB42-891B-BF74-ADA5-CCB654CE5D1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2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_mit_Einlei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433" y="2570205"/>
            <a:ext cx="4996447" cy="294635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158A0D-81DE-0ACD-5E68-73551AA7C5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79122" y="2570205"/>
            <a:ext cx="4996447" cy="294635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8013AE34-8548-EED4-1AC0-D210174AC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00" y="1807200"/>
            <a:ext cx="10948800" cy="7630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06F12F01-24A9-35CA-DD47-9719668097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reieck 7">
            <a:extLst>
              <a:ext uri="{FF2B5EF4-FFF2-40B4-BE49-F238E27FC236}">
                <a16:creationId xmlns:a16="http://schemas.microsoft.com/office/drawing/2014/main" id="{A7DE260D-1EC8-061E-F02E-E205F845A849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8C0B2BC7-C34B-A8F0-5A16-683091715FE8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9128CDE-FE75-A56C-68B0-148111C6BD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9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_mi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5C5A38D-4D41-9812-3A7C-D909137C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356589-41C4-B317-3579-3624594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DAFED519-8F9D-ECE9-55BD-EC1677C41D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79120" y="1808163"/>
            <a:ext cx="5185833" cy="370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</a:lstStyle>
          <a:p>
            <a:r>
              <a:rPr lang="de-DE" dirty="0"/>
              <a:t>Bildgröße: </a:t>
            </a:r>
            <a:br>
              <a:rPr lang="de-DE" dirty="0"/>
            </a:br>
            <a:r>
              <a:rPr lang="de-DE" dirty="0"/>
              <a:t>B=10,8 cm x H=10,3 cm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93A305-3BD0-2BA5-3178-C829DE8E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Textplatzhalter 15">
            <a:extLst>
              <a:ext uri="{FF2B5EF4-FFF2-40B4-BE49-F238E27FC236}">
                <a16:creationId xmlns:a16="http://schemas.microsoft.com/office/drawing/2014/main" id="{6733DAC6-0CE8-F39E-F26C-44FA287A8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3FD90040-31EB-6555-EF57-E1F8E146FF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reieck 4">
            <a:extLst>
              <a:ext uri="{FF2B5EF4-FFF2-40B4-BE49-F238E27FC236}">
                <a16:creationId xmlns:a16="http://schemas.microsoft.com/office/drawing/2014/main" id="{E7CF3A72-1D5B-4ED7-D524-5F460C5192FF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A444ABE-9214-C182-13E2-FBC1502E10C1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7FBF9618-C43F-C9F3-230D-389AFCD7EB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231D365-66E5-09D6-D2D8-DE3DE38F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88EC55-88DB-2B5A-9B1B-CB2DA7AE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200D3000-83FA-C41A-1DFC-1BFFCA02F1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603" y="1808163"/>
            <a:ext cx="10852800" cy="4462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</a:lstStyle>
          <a:p>
            <a:br>
              <a:rPr lang="de-DE" dirty="0"/>
            </a:br>
            <a:r>
              <a:rPr lang="de-DE" dirty="0"/>
              <a:t>B=22,61 cm x H=12,4 cm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A3EF7EDC-7CED-BAA5-D2C7-29AAC4C8AB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0C9CA2BB-B722-AF92-929E-21CB5F94B3B4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D2572EFC-9D8C-26F3-ABAF-576B17F5AF34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F946E431-2974-FDB3-37C9-70A5459CC1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8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ell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01762BC-7D60-3C78-C955-6E31EC1F241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6401" y="1789200"/>
            <a:ext cx="10854267" cy="4481513"/>
          </a:xfrm>
          <a:prstGeom prst="rect">
            <a:avLst/>
          </a:prstGeom>
          <a:ln>
            <a:noFill/>
            <a:prstDash val="sysDash"/>
          </a:ln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600" baseline="0">
                <a:solidFill>
                  <a:srgbClr val="111F6D"/>
                </a:solidFill>
              </a:defRPr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AE87485-9FE6-5151-BCC0-1B977F3C5D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3" name="Dreieck 12">
            <a:extLst>
              <a:ext uri="{FF2B5EF4-FFF2-40B4-BE49-F238E27FC236}">
                <a16:creationId xmlns:a16="http://schemas.microsoft.com/office/drawing/2014/main" id="{AB07DE06-9ED9-9849-F8F2-BC544D9BD35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F59C9066-E09A-FD46-2DB1-E6AB9D626E9F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93C6A03B-4CE3-5260-5AE4-D63671C9A3E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77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330487-BE22-3F64-19C7-24AA1FD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DEC35A-24D6-C459-5CE6-9465A16F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DF7C0B50-B92E-9676-854B-C636210F0F9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768000" y="1807200"/>
            <a:ext cx="10896000" cy="37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solidFill>
                  <a:srgbClr val="111F6D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DF7EBBA-C6B7-91CC-8986-26BF49348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reieck 7">
            <a:extLst>
              <a:ext uri="{FF2B5EF4-FFF2-40B4-BE49-F238E27FC236}">
                <a16:creationId xmlns:a16="http://schemas.microsoft.com/office/drawing/2014/main" id="{025AFBF3-B127-553A-A98E-0FB78FAE0E6F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62481A6-2080-9388-2852-A05896AA6974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3116BBD3-78F8-EA9A-FFE9-C5AD90E071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24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erfolie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4A268FCE-5ABB-D602-AA72-F08EEEDF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2143" y="635634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0000"/>
                </a:solidFill>
                <a:latin typeface=""/>
              </a:defRPr>
            </a:lvl1pPr>
          </a:lstStyle>
          <a:p>
            <a:fld id="{C6AFCF6C-A126-674D-AFDC-4252216F96A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D63E694-FD6B-AA3E-5EB9-566D15C746A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  <p:sp>
        <p:nvSpPr>
          <p:cNvPr id="29" name="Dreieck 3">
            <a:extLst>
              <a:ext uri="{FF2B5EF4-FFF2-40B4-BE49-F238E27FC236}">
                <a16:creationId xmlns:a16="http://schemas.microsoft.com/office/drawing/2014/main" id="{7FF81ED5-80F8-7FE9-2A15-17950D8EF96E}"/>
              </a:ext>
            </a:extLst>
          </p:cNvPr>
          <p:cNvSpPr/>
          <p:nvPr userDrawn="1"/>
        </p:nvSpPr>
        <p:spPr>
          <a:xfrm rot="5400000">
            <a:off x="3719496" y="5246073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5">
            <a:extLst>
              <a:ext uri="{FF2B5EF4-FFF2-40B4-BE49-F238E27FC236}">
                <a16:creationId xmlns:a16="http://schemas.microsoft.com/office/drawing/2014/main" id="{C95E5170-27EC-CB78-9BEF-1D9998D041E8}"/>
              </a:ext>
            </a:extLst>
          </p:cNvPr>
          <p:cNvSpPr/>
          <p:nvPr userDrawn="1"/>
        </p:nvSpPr>
        <p:spPr>
          <a:xfrm>
            <a:off x="5788579" y="5025075"/>
            <a:ext cx="914401" cy="914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Dreieck 6">
            <a:extLst>
              <a:ext uri="{FF2B5EF4-FFF2-40B4-BE49-F238E27FC236}">
                <a16:creationId xmlns:a16="http://schemas.microsoft.com/office/drawing/2014/main" id="{225C4FD8-5157-EFB3-2F11-456129631A2F}"/>
              </a:ext>
            </a:extLst>
          </p:cNvPr>
          <p:cNvSpPr/>
          <p:nvPr userDrawn="1"/>
        </p:nvSpPr>
        <p:spPr>
          <a:xfrm rot="5400000">
            <a:off x="4640794" y="5253385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Dreieck 8">
            <a:extLst>
              <a:ext uri="{FF2B5EF4-FFF2-40B4-BE49-F238E27FC236}">
                <a16:creationId xmlns:a16="http://schemas.microsoft.com/office/drawing/2014/main" id="{809939F9-A612-7627-8D7F-FA93607E7542}"/>
              </a:ext>
            </a:extLst>
          </p:cNvPr>
          <p:cNvSpPr/>
          <p:nvPr userDrawn="1"/>
        </p:nvSpPr>
        <p:spPr>
          <a:xfrm rot="16200000" flipH="1">
            <a:off x="5095439" y="5253384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Dreieck 9">
            <a:extLst>
              <a:ext uri="{FF2B5EF4-FFF2-40B4-BE49-F238E27FC236}">
                <a16:creationId xmlns:a16="http://schemas.microsoft.com/office/drawing/2014/main" id="{6A30CC38-8E88-E0E5-F79E-4A72403F5D25}"/>
              </a:ext>
            </a:extLst>
          </p:cNvPr>
          <p:cNvSpPr/>
          <p:nvPr userDrawn="1"/>
        </p:nvSpPr>
        <p:spPr>
          <a:xfrm rot="5400000">
            <a:off x="4181459" y="5246074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Dreieck 10">
            <a:extLst>
              <a:ext uri="{FF2B5EF4-FFF2-40B4-BE49-F238E27FC236}">
                <a16:creationId xmlns:a16="http://schemas.microsoft.com/office/drawing/2014/main" id="{158DB9D8-48F7-638A-DA23-D4CAF1A61AAB}"/>
              </a:ext>
            </a:extLst>
          </p:cNvPr>
          <p:cNvSpPr/>
          <p:nvPr userDrawn="1"/>
        </p:nvSpPr>
        <p:spPr>
          <a:xfrm rot="5400000">
            <a:off x="7837437" y="5251790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Dreieck 11">
            <a:extLst>
              <a:ext uri="{FF2B5EF4-FFF2-40B4-BE49-F238E27FC236}">
                <a16:creationId xmlns:a16="http://schemas.microsoft.com/office/drawing/2014/main" id="{9944E749-5302-A4D1-836A-2157472FFE34}"/>
              </a:ext>
            </a:extLst>
          </p:cNvPr>
          <p:cNvSpPr/>
          <p:nvPr userDrawn="1"/>
        </p:nvSpPr>
        <p:spPr>
          <a:xfrm rot="5400000">
            <a:off x="6476799" y="6171907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Dreieck 12">
            <a:extLst>
              <a:ext uri="{FF2B5EF4-FFF2-40B4-BE49-F238E27FC236}">
                <a16:creationId xmlns:a16="http://schemas.microsoft.com/office/drawing/2014/main" id="{CBED253F-B8F4-FBF6-3B5C-B38CC5C77259}"/>
              </a:ext>
            </a:extLst>
          </p:cNvPr>
          <p:cNvSpPr/>
          <p:nvPr userDrawn="1"/>
        </p:nvSpPr>
        <p:spPr>
          <a:xfrm rot="5400000">
            <a:off x="5556684" y="6171908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Dreieck 13">
            <a:extLst>
              <a:ext uri="{FF2B5EF4-FFF2-40B4-BE49-F238E27FC236}">
                <a16:creationId xmlns:a16="http://schemas.microsoft.com/office/drawing/2014/main" id="{37A6A4CB-A507-6B06-C7B0-D3FC8EA0D17B}"/>
              </a:ext>
            </a:extLst>
          </p:cNvPr>
          <p:cNvSpPr/>
          <p:nvPr userDrawn="1"/>
        </p:nvSpPr>
        <p:spPr>
          <a:xfrm rot="5400000">
            <a:off x="9219909" y="6171907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Dreieck 14">
            <a:extLst>
              <a:ext uri="{FF2B5EF4-FFF2-40B4-BE49-F238E27FC236}">
                <a16:creationId xmlns:a16="http://schemas.microsoft.com/office/drawing/2014/main" id="{0B4338AF-9B6B-53EF-54BE-CEB0115774BF}"/>
              </a:ext>
            </a:extLst>
          </p:cNvPr>
          <p:cNvSpPr/>
          <p:nvPr userDrawn="1"/>
        </p:nvSpPr>
        <p:spPr>
          <a:xfrm rot="5400000">
            <a:off x="11505907" y="4331676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Dreieck 15">
            <a:extLst>
              <a:ext uri="{FF2B5EF4-FFF2-40B4-BE49-F238E27FC236}">
                <a16:creationId xmlns:a16="http://schemas.microsoft.com/office/drawing/2014/main" id="{5D0143FD-4270-235F-1350-6AAD4AE9721D}"/>
              </a:ext>
            </a:extLst>
          </p:cNvPr>
          <p:cNvSpPr/>
          <p:nvPr userDrawn="1"/>
        </p:nvSpPr>
        <p:spPr>
          <a:xfrm rot="5400000">
            <a:off x="11042994" y="4331673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Oval 16">
            <a:extLst>
              <a:ext uri="{FF2B5EF4-FFF2-40B4-BE49-F238E27FC236}">
                <a16:creationId xmlns:a16="http://schemas.microsoft.com/office/drawing/2014/main" id="{343C49D5-1933-9E90-2222-13FBBE34640B}"/>
              </a:ext>
            </a:extLst>
          </p:cNvPr>
          <p:cNvSpPr/>
          <p:nvPr userDrawn="1"/>
        </p:nvSpPr>
        <p:spPr>
          <a:xfrm>
            <a:off x="11271030" y="5017765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Oval 17">
            <a:extLst>
              <a:ext uri="{FF2B5EF4-FFF2-40B4-BE49-F238E27FC236}">
                <a16:creationId xmlns:a16="http://schemas.microsoft.com/office/drawing/2014/main" id="{83D3C04C-449E-FED1-64C3-1A3622A17D24}"/>
              </a:ext>
            </a:extLst>
          </p:cNvPr>
          <p:cNvSpPr/>
          <p:nvPr userDrawn="1"/>
        </p:nvSpPr>
        <p:spPr>
          <a:xfrm>
            <a:off x="7624860" y="5937880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Dreieck 18">
            <a:extLst>
              <a:ext uri="{FF2B5EF4-FFF2-40B4-BE49-F238E27FC236}">
                <a16:creationId xmlns:a16="http://schemas.microsoft.com/office/drawing/2014/main" id="{942E2DEF-28BB-EFA0-05C7-F599EEA52FD3}"/>
              </a:ext>
            </a:extLst>
          </p:cNvPr>
          <p:cNvSpPr/>
          <p:nvPr userDrawn="1"/>
        </p:nvSpPr>
        <p:spPr>
          <a:xfrm rot="5400000">
            <a:off x="9681709" y="6160474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Dreieck 20">
            <a:extLst>
              <a:ext uri="{FF2B5EF4-FFF2-40B4-BE49-F238E27FC236}">
                <a16:creationId xmlns:a16="http://schemas.microsoft.com/office/drawing/2014/main" id="{D33DC7D1-922C-1B1D-2E0D-6AD211977243}"/>
              </a:ext>
            </a:extLst>
          </p:cNvPr>
          <p:cNvSpPr/>
          <p:nvPr userDrawn="1"/>
        </p:nvSpPr>
        <p:spPr>
          <a:xfrm rot="5400000">
            <a:off x="6016887" y="6171907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Oval 21">
            <a:extLst>
              <a:ext uri="{FF2B5EF4-FFF2-40B4-BE49-F238E27FC236}">
                <a16:creationId xmlns:a16="http://schemas.microsoft.com/office/drawing/2014/main" id="{F0BB954B-CADC-90D5-74B6-F821F9AA861D}"/>
              </a:ext>
            </a:extLst>
          </p:cNvPr>
          <p:cNvSpPr/>
          <p:nvPr userDrawn="1"/>
        </p:nvSpPr>
        <p:spPr>
          <a:xfrm>
            <a:off x="3969470" y="5946789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Dreieck 24">
            <a:extLst>
              <a:ext uri="{FF2B5EF4-FFF2-40B4-BE49-F238E27FC236}">
                <a16:creationId xmlns:a16="http://schemas.microsoft.com/office/drawing/2014/main" id="{6A3919BD-C518-C580-C44F-7369A2B1D5BA}"/>
              </a:ext>
            </a:extLst>
          </p:cNvPr>
          <p:cNvSpPr/>
          <p:nvPr userDrawn="1"/>
        </p:nvSpPr>
        <p:spPr>
          <a:xfrm rot="10800000">
            <a:off x="3034111" y="5942429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Dreieck 25">
            <a:extLst>
              <a:ext uri="{FF2B5EF4-FFF2-40B4-BE49-F238E27FC236}">
                <a16:creationId xmlns:a16="http://schemas.microsoft.com/office/drawing/2014/main" id="{D7D85AEC-E371-2839-F7B6-E5F800E5D098}"/>
              </a:ext>
            </a:extLst>
          </p:cNvPr>
          <p:cNvSpPr/>
          <p:nvPr userDrawn="1"/>
        </p:nvSpPr>
        <p:spPr>
          <a:xfrm flipH="1">
            <a:off x="3034111" y="6400214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D092043-6E18-5EEF-A908-D89BA045D02B}"/>
              </a:ext>
            </a:extLst>
          </p:cNvPr>
          <p:cNvSpPr/>
          <p:nvPr userDrawn="1"/>
        </p:nvSpPr>
        <p:spPr>
          <a:xfrm>
            <a:off x="10363398" y="5032531"/>
            <a:ext cx="902973" cy="9029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B2264BF-5755-5884-F3D5-84433C00287A}"/>
              </a:ext>
            </a:extLst>
          </p:cNvPr>
          <p:cNvSpPr/>
          <p:nvPr userDrawn="1"/>
        </p:nvSpPr>
        <p:spPr>
          <a:xfrm>
            <a:off x="8528883" y="5032531"/>
            <a:ext cx="902973" cy="90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A6CBA8AE-7C4E-218A-E8D2-D3B12ED35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13" y="1971269"/>
            <a:ext cx="4341637" cy="15398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26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2CEBFAB-5D89-34EC-A9C5-4AB3F666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72B94D8-DA3A-392D-6328-C14A2C69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10D1B06-D2E0-4AF2-2491-D449C2AD0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8352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C6188A93-59C3-CAAA-F941-9B3D0E17E7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9884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648DFAE4-FAA9-5014-6E67-1E147A805D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71419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A8D6F677-BC38-F1F5-934F-3DB34ED213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352" y="3429001"/>
            <a:ext cx="3293533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5" name="Textplatzhalter 23">
            <a:extLst>
              <a:ext uri="{FF2B5EF4-FFF2-40B4-BE49-F238E27FC236}">
                <a16:creationId xmlns:a16="http://schemas.microsoft.com/office/drawing/2014/main" id="{FE3B1CC5-E90B-61EA-26FE-D7E13993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9884" y="3444896"/>
            <a:ext cx="3293533" cy="3492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6" name="Textplatzhalter 23">
            <a:extLst>
              <a:ext uri="{FF2B5EF4-FFF2-40B4-BE49-F238E27FC236}">
                <a16:creationId xmlns:a16="http://schemas.microsoft.com/office/drawing/2014/main" id="{E75A4461-F18D-C724-FD9C-C48D61A94C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1419" y="3429001"/>
            <a:ext cx="3293533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9A0203D8-DAA3-7692-7C72-8DB0B3B7EB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reieck 4">
            <a:extLst>
              <a:ext uri="{FF2B5EF4-FFF2-40B4-BE49-F238E27FC236}">
                <a16:creationId xmlns:a16="http://schemas.microsoft.com/office/drawing/2014/main" id="{43A245A0-1874-89AD-9A91-4127CCA569C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D0B81F61-6B8C-6033-5766-F3921C796FC7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CC00B8B6-77ED-2192-3811-94B0F7CA62E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87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o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157B80AD-1EBF-0096-63BD-DCD369B41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reieck 3">
            <a:extLst>
              <a:ext uri="{FF2B5EF4-FFF2-40B4-BE49-F238E27FC236}">
                <a16:creationId xmlns:a16="http://schemas.microsoft.com/office/drawing/2014/main" id="{86A61150-1734-D630-5686-0DACABED099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F69C9B74-92F0-E48F-E18A-3A98562D09C0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256AB011-FFBC-DE74-8864-9FAAAE1B03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99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2C89730-3322-35DA-8B27-9A5B7C311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BD438C7-DC84-4792-170E-C3A8113F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" y="448532"/>
            <a:ext cx="2070127" cy="169682"/>
          </a:xfrm>
          <a:prstGeom prst="rect">
            <a:avLst/>
          </a:prstGeom>
        </p:spPr>
      </p:pic>
      <p:sp>
        <p:nvSpPr>
          <p:cNvPr id="8" name="Dreieck 3">
            <a:extLst>
              <a:ext uri="{FF2B5EF4-FFF2-40B4-BE49-F238E27FC236}">
                <a16:creationId xmlns:a16="http://schemas.microsoft.com/office/drawing/2014/main" id="{91A78F76-C4E0-7BDE-B13B-AA988276559C}"/>
              </a:ext>
            </a:extLst>
          </p:cNvPr>
          <p:cNvSpPr/>
          <p:nvPr userDrawn="1"/>
        </p:nvSpPr>
        <p:spPr>
          <a:xfrm rot="5400000">
            <a:off x="10791895" y="4205350"/>
            <a:ext cx="1131572" cy="56651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E5979D9F-1E5F-9C9B-2F37-EF011A866711}"/>
              </a:ext>
            </a:extLst>
          </p:cNvPr>
          <p:cNvSpPr/>
          <p:nvPr userDrawn="1"/>
        </p:nvSpPr>
        <p:spPr>
          <a:xfrm>
            <a:off x="9941902" y="3922819"/>
            <a:ext cx="1125855" cy="11258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AEF5F15-E352-0EA7-F09A-F0BC0666CD5E}"/>
              </a:ext>
            </a:extLst>
          </p:cNvPr>
          <p:cNvSpPr/>
          <p:nvPr userDrawn="1"/>
        </p:nvSpPr>
        <p:spPr>
          <a:xfrm>
            <a:off x="9941902" y="5064126"/>
            <a:ext cx="1132524" cy="11325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reieck 8">
            <a:extLst>
              <a:ext uri="{FF2B5EF4-FFF2-40B4-BE49-F238E27FC236}">
                <a16:creationId xmlns:a16="http://schemas.microsoft.com/office/drawing/2014/main" id="{68098482-0689-2004-8D0B-5DB424C562FD}"/>
              </a:ext>
            </a:extLst>
          </p:cNvPr>
          <p:cNvSpPr/>
          <p:nvPr userDrawn="1"/>
        </p:nvSpPr>
        <p:spPr>
          <a:xfrm rot="16200000">
            <a:off x="11355986" y="4205350"/>
            <a:ext cx="1131572" cy="5665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Dreieck 9">
            <a:extLst>
              <a:ext uri="{FF2B5EF4-FFF2-40B4-BE49-F238E27FC236}">
                <a16:creationId xmlns:a16="http://schemas.microsoft.com/office/drawing/2014/main" id="{8B18C2C9-44F6-45CF-45E6-7B2A749AC2C6}"/>
              </a:ext>
            </a:extLst>
          </p:cNvPr>
          <p:cNvSpPr/>
          <p:nvPr userDrawn="1"/>
        </p:nvSpPr>
        <p:spPr>
          <a:xfrm rot="16200000">
            <a:off x="9093259" y="5346657"/>
            <a:ext cx="1131572" cy="5665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Dreieck 10">
            <a:extLst>
              <a:ext uri="{FF2B5EF4-FFF2-40B4-BE49-F238E27FC236}">
                <a16:creationId xmlns:a16="http://schemas.microsoft.com/office/drawing/2014/main" id="{0E749EDC-BF83-73DE-F0FB-0FE904BC8408}"/>
              </a:ext>
            </a:extLst>
          </p:cNvPr>
          <p:cNvSpPr/>
          <p:nvPr userDrawn="1"/>
        </p:nvSpPr>
        <p:spPr>
          <a:xfrm rot="16200000">
            <a:off x="8523881" y="5346657"/>
            <a:ext cx="1131572" cy="56651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378A4CC-FE53-06F1-12B5-0C4D410FFE1F}"/>
              </a:ext>
            </a:extLst>
          </p:cNvPr>
          <p:cNvSpPr txBox="1">
            <a:spLocks/>
          </p:cNvSpPr>
          <p:nvPr userDrawn="1"/>
        </p:nvSpPr>
        <p:spPr>
          <a:xfrm>
            <a:off x="666193" y="3438939"/>
            <a:ext cx="7845915" cy="28575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chemeClr val="bg1"/>
                </a:solidFill>
                <a:latin typeface="Source Sans Pro Semibold" panose="020B0503030403020204" pitchFamily="34" charset="77"/>
                <a:ea typeface="Source Serif Pro Semibold" panose="02040703050405020204" pitchFamily="18" charset="0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25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EF5647-AD1F-E32E-CA44-103A9669F71F}"/>
              </a:ext>
            </a:extLst>
          </p:cNvPr>
          <p:cNvSpPr txBox="1">
            <a:spLocks/>
          </p:cNvSpPr>
          <p:nvPr/>
        </p:nvSpPr>
        <p:spPr>
          <a:xfrm>
            <a:off x="716437" y="344681"/>
            <a:ext cx="10272859" cy="78242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800" b="1" i="0" kern="120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j-cs"/>
              </a:defRPr>
            </a:lvl1pPr>
          </a:lstStyle>
          <a:p>
            <a:r>
              <a:rPr lang="de-DE" sz="2800" dirty="0"/>
              <a:t>Mastertitelformat bearbeiten</a:t>
            </a:r>
            <a:endParaRPr lang="en-US" sz="2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6897E7-450B-2BDB-5052-5747DF981B69}"/>
              </a:ext>
            </a:extLst>
          </p:cNvPr>
          <p:cNvSpPr txBox="1">
            <a:spLocks/>
          </p:cNvSpPr>
          <p:nvPr/>
        </p:nvSpPr>
        <p:spPr>
          <a:xfrm>
            <a:off x="716439" y="1808163"/>
            <a:ext cx="9067391" cy="3708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Mastertextformat bearbeiten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8B436ED-AC17-997B-D342-21DFC2D00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004C46-0773-B019-22A7-C256EE86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01DF1272-83B5-268A-DF16-8EE2C6FE1041}"/>
              </a:ext>
            </a:extLst>
          </p:cNvPr>
          <p:cNvSpPr/>
          <p:nvPr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001240-A59D-D894-2645-B4F6F831CE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r="22168" b="55633"/>
          <a:stretch/>
        </p:blipFill>
        <p:spPr>
          <a:xfrm>
            <a:off x="11275421" y="342903"/>
            <a:ext cx="427016" cy="365125"/>
          </a:xfrm>
          <a:prstGeom prst="rect">
            <a:avLst/>
          </a:prstGeom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6B2EC3B-FE1D-288A-656D-2891AA7441D9}"/>
              </a:ext>
            </a:extLst>
          </p:cNvPr>
          <p:cNvCxnSpPr/>
          <p:nvPr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78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5" r:id="rId3"/>
    <p:sldLayoutId id="2147483673" r:id="rId4"/>
    <p:sldLayoutId id="2147483672" r:id="rId5"/>
    <p:sldLayoutId id="2147483662" r:id="rId6"/>
    <p:sldLayoutId id="2147483676" r:id="rId7"/>
    <p:sldLayoutId id="2147483708" r:id="rId8"/>
    <p:sldLayoutId id="2147483680" r:id="rId9"/>
    <p:sldLayoutId id="2147483678" r:id="rId10"/>
    <p:sldLayoutId id="2147483682" r:id="rId11"/>
    <p:sldLayoutId id="2147483677" r:id="rId12"/>
    <p:sldLayoutId id="2147483679" r:id="rId13"/>
    <p:sldLayoutId id="2147483669" r:id="rId14"/>
    <p:sldLayoutId id="2147483681" r:id="rId15"/>
    <p:sldLayoutId id="2147483683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ource Serif Pro Semibold" panose="02040703050405020204" pitchFamily="18" charset="0"/>
          <a:ea typeface="Source Serif Pro Semibold" panose="0204070305040502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8" userDrawn="1">
          <p15:clr>
            <a:srgbClr val="F26B43"/>
          </p15:clr>
        </p15:guide>
        <p15:guide id="4" pos="484" userDrawn="1">
          <p15:clr>
            <a:srgbClr val="F26B43"/>
          </p15:clr>
        </p15:guide>
        <p15:guide id="5" orient="horz" pos="1139" userDrawn="1">
          <p15:clr>
            <a:srgbClr val="F26B43"/>
          </p15:clr>
        </p15:guide>
        <p15:guide id="6" orient="horz" pos="3475" userDrawn="1">
          <p15:clr>
            <a:srgbClr val="F26B43"/>
          </p15:clr>
        </p15:guide>
        <p15:guide id="7" pos="3599" userDrawn="1">
          <p15:clr>
            <a:srgbClr val="F26B43"/>
          </p15:clr>
        </p15:guide>
        <p15:guide id="8" pos="4081" userDrawn="1">
          <p15:clr>
            <a:srgbClr val="F26B43"/>
          </p15:clr>
        </p15:guide>
        <p15:guide id="9" orient="horz" pos="3904" userDrawn="1">
          <p15:clr>
            <a:srgbClr val="F26B43"/>
          </p15:clr>
        </p15:guide>
        <p15:guide id="11" orient="horz" pos="618" userDrawn="1">
          <p15:clr>
            <a:srgbClr val="F26B43"/>
          </p15:clr>
        </p15:guide>
        <p15:guide id="12" orient="horz" pos="4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A7A2E0-6558-1DA3-020B-D275CED139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002" y="5713896"/>
            <a:ext cx="8019014" cy="531813"/>
          </a:xfrm>
        </p:spPr>
        <p:txBody>
          <a:bodyPr/>
          <a:lstStyle/>
          <a:p>
            <a:r>
              <a:rPr lang="de-DE" dirty="0"/>
              <a:t>Tobias Berend</a:t>
            </a:r>
            <a:r>
              <a:rPr lang="de-DE" b="0" dirty="0">
                <a:latin typeface="Source Sans Pro Light" panose="020B0403030403020204" pitchFamily="34" charset="77"/>
              </a:rPr>
              <a:t>I 4.06.2026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F5BAD2-6D3D-5CDD-3747-A4CD8B380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Paralleles Bitonic Sort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11D5418-EC87-2D69-6CA2-C57042B640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latin typeface="Source Sans Pro" panose="020B0503030403020204" pitchFamily="34" charset="77"/>
              </a:rPr>
              <a:t>Und seine möglichen Anwendungsbereiche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008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064DCA6-91AD-141F-FD61-86060B94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19705AF-61B1-E492-6D10-A76A438C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84143-278D-592D-D5E4-4F4F6A4FAE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dirty="0"/>
              <a:t>Parallele Prozesse</a:t>
            </a:r>
          </a:p>
          <a:p>
            <a:r>
              <a:rPr lang="de-DE" sz="2000" dirty="0"/>
              <a:t>Begriffsdefinition „Bitonic“</a:t>
            </a:r>
          </a:p>
          <a:p>
            <a:r>
              <a:rPr lang="de-DE" sz="2000" dirty="0"/>
              <a:t>Funktionsweise Bitonic Sort</a:t>
            </a:r>
          </a:p>
          <a:p>
            <a:pPr lvl="1"/>
            <a:r>
              <a:rPr lang="de-DE" sz="2000" dirty="0"/>
              <a:t>Bitonic Sort</a:t>
            </a:r>
          </a:p>
          <a:p>
            <a:pPr lvl="1"/>
            <a:r>
              <a:rPr lang="de-DE" sz="2000" dirty="0"/>
              <a:t>Bitonic Merge</a:t>
            </a:r>
          </a:p>
          <a:p>
            <a:r>
              <a:rPr lang="de-DE" sz="2000" dirty="0"/>
              <a:t>Laufzeitoptimierung durch Parallelisierung</a:t>
            </a:r>
          </a:p>
          <a:p>
            <a:pPr lvl="1"/>
            <a:r>
              <a:rPr lang="de-DE" sz="2000" dirty="0"/>
              <a:t>Vergleich linear und parallel</a:t>
            </a:r>
          </a:p>
          <a:p>
            <a:pPr lvl="1"/>
            <a:r>
              <a:rPr lang="de-DE" sz="2000" dirty="0"/>
              <a:t>Implementierung</a:t>
            </a:r>
          </a:p>
          <a:p>
            <a:r>
              <a:rPr lang="de-DE" sz="2000" dirty="0"/>
              <a:t>Vergleich zu anderen Sortieralgorithmen</a:t>
            </a:r>
          </a:p>
          <a:p>
            <a:r>
              <a:rPr lang="de-DE" sz="2000" dirty="0"/>
              <a:t>Fazit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BC29EB-F6D7-EC47-37B2-1457C06F73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395287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ABFB87E-B9AE-641B-918F-20FF0266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4C247A-4FD7-BDC3-B7F3-5E9ED3127E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Parallele Prozesse</a:t>
            </a:r>
          </a:p>
        </p:txBody>
      </p:sp>
    </p:spTree>
    <p:extLst>
      <p:ext uri="{BB962C8B-B14F-4D97-AF65-F5344CB8AC3E}">
        <p14:creationId xmlns:p14="http://schemas.microsoft.com/office/powerpoint/2010/main" val="712680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42192E-E51D-08C2-C528-558F0EF0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6C959D-1DA4-2A03-D62F-AAAEBFE0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7A9A0B-146F-136E-F7BC-8CC4A0EEB9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400" dirty="0"/>
              <a:t>Gleiche Aufgaben auf 2 Prozesse aufgeteilt</a:t>
            </a:r>
          </a:p>
          <a:p>
            <a:pPr lvl="1"/>
            <a:r>
              <a:rPr lang="de-DE" sz="2400" dirty="0"/>
              <a:t>Berechnungszeit wird (theoretisch) halbiert</a:t>
            </a:r>
          </a:p>
          <a:p>
            <a:r>
              <a:rPr lang="de-DE" sz="2400" dirty="0"/>
              <a:t>Meist mithilfe von mehreren Kernen (Cores) umgesetzt</a:t>
            </a:r>
          </a:p>
          <a:p>
            <a:r>
              <a:rPr lang="de-DE" sz="2400" dirty="0"/>
              <a:t>Typische Anwendung</a:t>
            </a:r>
          </a:p>
          <a:p>
            <a:pPr lvl="1"/>
            <a:r>
              <a:rPr lang="de-DE" sz="2400" dirty="0"/>
              <a:t>Threads</a:t>
            </a:r>
          </a:p>
          <a:p>
            <a:pPr lvl="1"/>
            <a:r>
              <a:rPr lang="de-DE" sz="2400" dirty="0"/>
              <a:t>Raytracing</a:t>
            </a:r>
          </a:p>
          <a:p>
            <a:pPr lvl="1"/>
            <a:r>
              <a:rPr lang="de-DE" sz="2400" dirty="0"/>
              <a:t>Programmierung mit CUDA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3A1908-CDD2-F03F-E1AC-87ED56BFD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Parallele Prozesse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33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8E09-358D-A7B2-B385-75EAEC7F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7B11F6-8541-7B1D-B932-D503835C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86A9A4-BD89-F2E8-A718-56CD551752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Begriffsdefinition „Bitonic“</a:t>
            </a:r>
          </a:p>
        </p:txBody>
      </p:sp>
    </p:spTree>
    <p:extLst>
      <p:ext uri="{BB962C8B-B14F-4D97-AF65-F5344CB8AC3E}">
        <p14:creationId xmlns:p14="http://schemas.microsoft.com/office/powerpoint/2010/main" val="138067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2C1F-745E-FE10-B78D-013E1A26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5F1387-E886-67C4-00F4-502FFCD5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55A69D-14C8-1DE9-86F0-50751012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06A6D5-D961-BF1C-DEE0-8B389F449E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400" dirty="0"/>
              <a:t>Eine Zahlensequenz ist „Bitonic“, wenn:</a:t>
            </a:r>
          </a:p>
          <a:p>
            <a:pPr lvl="1"/>
            <a:r>
              <a:rPr lang="de-DE" sz="2400" dirty="0"/>
              <a:t>Ein Intervall existiert, indem die Werte monoton steigen</a:t>
            </a:r>
          </a:p>
          <a:p>
            <a:pPr lvl="1"/>
            <a:r>
              <a:rPr lang="de-DE" sz="2400" dirty="0"/>
              <a:t>Ein Intervall existiert, indem die Werte monoton fallen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EAEA4-4C3D-F966-C0A9-D9A3AA07A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Begriffsdefinition „Bitonic“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E10631E-9E65-327E-3743-69EF7B13B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70" y="3279818"/>
            <a:ext cx="4552482" cy="255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4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06CF-CF3E-FD45-E42A-B6B90621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C85ECD4-15E4-AC26-4D02-7E427125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117FA7-4972-2BC3-A79D-BA4180CFE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</p:txBody>
      </p:sp>
    </p:spTree>
    <p:extLst>
      <p:ext uri="{BB962C8B-B14F-4D97-AF65-F5344CB8AC3E}">
        <p14:creationId xmlns:p14="http://schemas.microsoft.com/office/powerpoint/2010/main" val="373942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0C74-A1FF-2762-3ABC-8C31CF89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8467CC-ABCA-88C4-FEDD-5A38C041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E90FD3-353A-5797-5640-D8E16381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9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5DB0A57D-3C9E-B7B1-3023-06A516C662B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sz="2400" dirty="0"/>
                  <a:t>„divide and conquer“-Prinzip</a:t>
                </a:r>
              </a:p>
              <a:p>
                <a:pPr lvl="1"/>
                <a:r>
                  <a:rPr lang="de-DE" sz="2400" dirty="0"/>
                  <a:t>Rekursive Methodenaufrufe</a:t>
                </a:r>
              </a:p>
              <a:p>
                <a:r>
                  <a:rPr lang="de-DE" sz="2400" dirty="0"/>
                  <a:t>Vorbedingung: Arraygröße muss einer Zweierpotenz entsprechen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𝐴𝑟𝑟𝑎𝑦𝑙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ä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𝑛𝑔𝑒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∈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lvl="1"/>
                <a:r>
                  <a:rPr lang="de-DE" sz="2400" dirty="0"/>
                  <a:t>Falls die Vorbedingung nicht erfüllt ist, können Füllwerte genommen werden</a:t>
                </a:r>
              </a:p>
              <a:p>
                <a:r>
                  <a:rPr lang="de-DE" sz="2400" dirty="0"/>
                  <a:t>Aufgeteilt in:</a:t>
                </a:r>
              </a:p>
              <a:p>
                <a:pPr lvl="1"/>
                <a:r>
                  <a:rPr lang="de-DE" sz="2400" dirty="0"/>
                  <a:t>Bitonic Sort</a:t>
                </a:r>
              </a:p>
              <a:p>
                <a:pPr lvl="1"/>
                <a:r>
                  <a:rPr lang="de-DE" sz="2400" dirty="0"/>
                  <a:t>Bitonic Merge</a:t>
                </a:r>
              </a:p>
            </p:txBody>
          </p:sp>
        </mc:Choice>
        <mc:Fallback xmlns="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5DB0A57D-3C9E-B7B1-3023-06A516C66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99" b="-14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47FA416-BF83-A514-071D-0EC8FE3DD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703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8DD3-F30E-0A48-EBCA-BEB90571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B97AF6-FE50-19E7-0764-8211E7B1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1168E9-1E75-93DF-0BB3-989AC55C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987102-530F-76D5-0316-950878763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0" y="2211388"/>
            <a:ext cx="6237480" cy="3071958"/>
          </a:xfrm>
          <a:prstGeom prst="rect">
            <a:avLst/>
          </a:prstGeom>
          <a:noFill/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382B191-7DED-D084-FBE4-05F5BB4221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de-DE" sz="2400" noProof="0" dirty="0"/>
              <a:t>Legende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48E613-0F35-1B15-95A9-C9BA950465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Funktionsweise Bitonic Sort</a:t>
            </a:r>
            <a:br>
              <a:rPr lang="de-DE" dirty="0"/>
            </a:br>
            <a:r>
              <a:rPr lang="de-DE" dirty="0"/>
              <a:t>Teil 1: Bitonic Sort</a:t>
            </a:r>
          </a:p>
          <a:p>
            <a:endParaRPr lang="de-DE" sz="2400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2BE25476-8B75-D3EB-97C5-2033836F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arr</a:t>
            </a:r>
            <a:r>
              <a:rPr lang="de-DE" sz="2000" dirty="0"/>
              <a:t> = zu sortierendes Array</a:t>
            </a:r>
          </a:p>
          <a:p>
            <a:r>
              <a:rPr lang="de-DE" sz="2000" dirty="0" err="1"/>
              <a:t>low</a:t>
            </a:r>
            <a:r>
              <a:rPr lang="de-DE" sz="2000" dirty="0"/>
              <a:t> = unterer Index des zu sortierenden Intervalls (inklusiv)</a:t>
            </a:r>
          </a:p>
          <a:p>
            <a:r>
              <a:rPr lang="de-DE" sz="2000" dirty="0" err="1"/>
              <a:t>cnt</a:t>
            </a:r>
            <a:r>
              <a:rPr lang="de-DE" sz="2000" dirty="0"/>
              <a:t> = Anzahl der zu sortierenden Werten</a:t>
            </a:r>
          </a:p>
          <a:p>
            <a:r>
              <a:rPr lang="de-DE" sz="2000" dirty="0"/>
              <a:t>dir = Richtung</a:t>
            </a:r>
          </a:p>
          <a:p>
            <a:pPr lvl="1"/>
            <a:r>
              <a:rPr lang="de-DE" sz="20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true</a:t>
            </a:r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= aufsteigend</a:t>
            </a:r>
          </a:p>
          <a:p>
            <a:pPr lvl="1"/>
            <a:r>
              <a:rPr lang="de-DE" sz="20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false</a:t>
            </a:r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= absteigend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3957371-5F3A-1817-032A-166385490A30}"/>
              </a:ext>
            </a:extLst>
          </p:cNvPr>
          <p:cNvSpPr txBox="1">
            <a:spLocks/>
          </p:cNvSpPr>
          <p:nvPr/>
        </p:nvSpPr>
        <p:spPr>
          <a:xfrm>
            <a:off x="5750259" y="1808163"/>
            <a:ext cx="4997451" cy="403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9838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154-4C48-4A0B-B9AC-352E7D01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18542F6-00C3-4C2B-0C1B-7B9067CA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673F7D-BEC9-8774-6076-CA2F28DA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868CA7-DF64-0194-052B-12D5DDC4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0" y="2211388"/>
            <a:ext cx="6237480" cy="3071958"/>
          </a:xfrm>
          <a:prstGeom prst="rect">
            <a:avLst/>
          </a:prstGeom>
          <a:noFill/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DAC086E-A121-BEDF-7125-D0EE917610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de-DE" sz="2400" noProof="0" dirty="0"/>
              <a:t>Ablauf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BB62C6-A4B7-AA76-5B89-84EDCC6923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Funktionsweise Bitonic Sort</a:t>
            </a:r>
            <a:br>
              <a:rPr lang="de-DE" dirty="0"/>
            </a:br>
            <a:r>
              <a:rPr lang="de-DE" dirty="0"/>
              <a:t>Teil 1: Bitonic Sort</a:t>
            </a:r>
          </a:p>
          <a:p>
            <a:endParaRPr lang="de-DE" sz="2400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A6F7958-1EF9-2E6B-C545-DE77465C1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Falls &lt;= 1 Elemente zu sortieren sind </a:t>
            </a:r>
          </a:p>
          <a:p>
            <a:pPr lvl="1"/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Fertig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Sortiere erste Hälfte aufsteigend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Sortiere zweite Hälfte Absteigend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Merge das Intervall in übergebene Richtung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C7B304C-A72C-A8FE-0D7C-7A12DCC02B9B}"/>
              </a:ext>
            </a:extLst>
          </p:cNvPr>
          <p:cNvSpPr txBox="1">
            <a:spLocks/>
          </p:cNvSpPr>
          <p:nvPr/>
        </p:nvSpPr>
        <p:spPr>
          <a:xfrm>
            <a:off x="5750259" y="1808163"/>
            <a:ext cx="4997451" cy="403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92140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B474-FFE0-A455-81A0-59ACE493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027ED1F4-FF08-8220-0AD8-B3A5EDFA6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</p:spPr>
        <p:txBody>
          <a:bodyPr/>
          <a:lstStyle/>
          <a:p>
            <a:r>
              <a:rPr lang="de-DE" sz="2000" dirty="0"/>
              <a:t>Falls &lt;= 1 Elemente zu sortieren sind </a:t>
            </a:r>
          </a:p>
          <a:p>
            <a:pPr lvl="1"/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Fertig</a:t>
            </a:r>
            <a:endParaRPr lang="en-US" sz="2000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Für jedes Element im Intervall wird geprüft, ob es getauscht wird.</a:t>
            </a: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Merge das linke Intervall</a:t>
            </a: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Merge das rechte Intervall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8D799B-2576-9617-666F-69067FD8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177B69-46A9-FCDC-4E35-CB4F167E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A05A879-C7EB-A343-7B1D-67E02158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153" y="2255988"/>
            <a:ext cx="6553921" cy="3260575"/>
          </a:xfrm>
          <a:prstGeom prst="rect">
            <a:avLst/>
          </a:prstGeom>
          <a:noFill/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CFA0279-7C0D-D55C-7B6D-93B40A804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4AE8B59-9644-D66B-43E6-21278B28A4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 err="1"/>
              <a:t>Ablauf</a:t>
            </a:r>
            <a:endParaRPr lang="en-US" sz="24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529573-EC3C-EF59-C616-A62A009A38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Autofit/>
          </a:bodyPr>
          <a:lstStyle/>
          <a:p>
            <a:r>
              <a:rPr lang="de-DE" dirty="0"/>
              <a:t>Funktionsweise Bitonic Sort</a:t>
            </a:r>
            <a:br>
              <a:rPr lang="de-DE" dirty="0"/>
            </a:br>
            <a:r>
              <a:rPr lang="de-DE" dirty="0"/>
              <a:t>Teil 2: Bitonic Merge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14E46F-4F3E-6E7B-D8B7-903E079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5026" y="3051181"/>
            <a:ext cx="1012816" cy="101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2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27D88F5-4EC5-4FE0-E10D-D78385F0D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1639" y="1500037"/>
            <a:ext cx="6719589" cy="207915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2AD882-80B8-49EA-B3BA-7068C891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b="0" dirty="0">
              <a:latin typeface="Source Sans Pro Light" panose="020B0403030403020204" pitchFamily="34" charset="77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4E676A-355D-04A9-15EB-60FB3646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A626DE9-A597-89C1-6A7B-3DBF221A93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  <a:br>
              <a:rPr lang="de-DE" dirty="0"/>
            </a:br>
            <a:r>
              <a:rPr lang="de-DE" dirty="0"/>
              <a:t>Teil 2: Bitonic Merge</a:t>
            </a:r>
          </a:p>
          <a:p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6858C15-DAA8-64E6-AAD8-09923D6AA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439" y="3683733"/>
            <a:ext cx="7532443" cy="231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8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7AA40F5-B405-91D7-94A8-C9AE4BC0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BD39CD-A006-EF93-F358-5BEB76CD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5D858D-CEE7-FFDC-06BB-618B7F5288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52E4C54-3329-D13D-6304-DD6CA138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18" y="1138382"/>
            <a:ext cx="7436963" cy="50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4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420E-94FD-4601-FFAC-6BA92024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C9F0584-3D69-45BD-99D6-D58C4C26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B6CDC8-CBF8-2BC9-A53D-4E29AD2C8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Laufzeitoptimierung durch Parallelisierung</a:t>
            </a:r>
          </a:p>
        </p:txBody>
      </p:sp>
    </p:spTree>
    <p:extLst>
      <p:ext uri="{BB962C8B-B14F-4D97-AF65-F5344CB8AC3E}">
        <p14:creationId xmlns:p14="http://schemas.microsoft.com/office/powerpoint/2010/main" val="404400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6E570318-B46D-9D36-B028-FB529A99C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6439" y="2211388"/>
                <a:ext cx="4996447" cy="3305175"/>
              </a:xfrm>
            </p:spPr>
            <p:txBody>
              <a:bodyPr>
                <a:normAutofit/>
              </a:bodyPr>
              <a:lstStyle/>
              <a:p>
                <a:r>
                  <a:rPr lang="de-DE" sz="2000" dirty="0"/>
                  <a:t>Komplexität von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2000" dirty="0"/>
                  <a:t> </a:t>
                </a:r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Rekursionsstufen des </a:t>
                </a:r>
                <a:r>
                  <a:rPr lang="de-DE" sz="2000" dirty="0" err="1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bitonicMerge</a:t>
                </a:r>
                <a:endParaRPr lang="de-DE" sz="2000" dirty="0">
                  <a:latin typeface="Source Sans Pro Light" panose="020B0403030403020204" pitchFamily="34" charset="0"/>
                  <a:ea typeface="Source Sans Pro Light" panose="020B0403030403020204" pitchFamily="34" charset="0"/>
                </a:endParaRPr>
              </a:p>
              <a:p>
                <a:pPr lvl="2"/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Mit jeweils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 Vergleichen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2000" dirty="0"/>
                  <a:t> </a:t>
                </a:r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Rekursionsstufen des </a:t>
                </a:r>
                <a:r>
                  <a:rPr lang="de-DE" sz="2000" dirty="0" err="1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bitonicSort</a:t>
                </a:r>
                <a:endParaRPr lang="de-DE" sz="2000" dirty="0">
                  <a:latin typeface="Source Sans Pro Light" panose="020B0403030403020204" pitchFamily="34" charset="0"/>
                  <a:ea typeface="Source Sans Pro Light" panose="020B0403030403020204" pitchFamily="34" charset="0"/>
                </a:endParaRPr>
              </a:p>
            </p:txBody>
          </p:sp>
        </mc:Choice>
        <mc:Fallback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6E570318-B46D-9D36-B028-FB529A99C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6439" y="2211388"/>
                <a:ext cx="4996447" cy="3305175"/>
              </a:xfrm>
              <a:blipFill>
                <a:blip r:embed="rId2"/>
                <a:stretch>
                  <a:fillRect t="-11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EA7D2-6871-E21C-7E3A-8DEB99D5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F0AFD0-240F-2A06-A777-651C0E05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16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3D63795-D370-B012-70F1-3C26CA190207}"/>
                  </a:ext>
                </a:extLst>
              </p:cNvPr>
              <p:cNvSpPr>
                <a:spLocks noGrp="1"/>
              </p:cNvSpPr>
              <p:nvPr>
                <p:ph idx="14"/>
              </p:nvPr>
            </p:nvSpPr>
            <p:spPr>
              <a:xfrm>
                <a:off x="6480125" y="2211392"/>
                <a:ext cx="4996447" cy="3305175"/>
              </a:xfrm>
            </p:spPr>
            <p:txBody>
              <a:bodyPr>
                <a:normAutofit/>
              </a:bodyPr>
              <a:lstStyle/>
              <a:p>
                <a:r>
                  <a:rPr lang="de-DE" sz="2000" dirty="0"/>
                  <a:t>Komplexität von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Rekursionsstufen des </a:t>
                </a:r>
                <a:r>
                  <a:rPr lang="de-DE" sz="2000" dirty="0" err="1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bitonicMerge</a:t>
                </a:r>
                <a:endParaRPr lang="de-DE" sz="2000" dirty="0">
                  <a:latin typeface="Source Sans Pro Light" panose="020B0403030403020204" pitchFamily="34" charset="0"/>
                  <a:ea typeface="Source Sans Pro Light" panose="020B0403030403020204" pitchFamily="34" charset="0"/>
                </a:endParaRPr>
              </a:p>
              <a:p>
                <a:pPr lvl="2"/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Mit </a:t>
                </a:r>
                <a:r>
                  <a:rPr lang="de-DE" sz="2000" dirty="0" err="1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jeweils</a:t>
                </a:r>
                <a14:m>
                  <m:oMath xmlns:m="http://schemas.openxmlformats.org/officeDocument/2006/math">
                    <m:r>
                      <a:rPr lang="de-DE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 Vergleichen</a:t>
                </a:r>
              </a:p>
              <a:p>
                <a:pPr lvl="3"/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Parallel durch Threads ausgeführt</a:t>
                </a:r>
              </a:p>
              <a:p>
                <a:pPr lvl="3"/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Vorfaktor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 fällt weg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2000" dirty="0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 Rekursionsstufen des </a:t>
                </a:r>
                <a:r>
                  <a:rPr lang="de-DE" sz="2000" dirty="0" err="1">
                    <a:latin typeface="Source Sans Pro Light" panose="020B0403030403020204" pitchFamily="34" charset="0"/>
                    <a:ea typeface="Source Sans Pro Light" panose="020B0403030403020204" pitchFamily="34" charset="0"/>
                  </a:rPr>
                  <a:t>bitonicSort</a:t>
                </a:r>
                <a:endParaRPr lang="de-DE" sz="2000" dirty="0">
                  <a:latin typeface="Source Sans Pro Light" panose="020B0403030403020204" pitchFamily="34" charset="0"/>
                  <a:ea typeface="Source Sans Pro Light" panose="020B0403030403020204" pitchFamily="34" charset="0"/>
                </a:endParaRPr>
              </a:p>
            </p:txBody>
          </p:sp>
        </mc:Choice>
        <mc:Fallback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3D63795-D370-B012-70F1-3C26CA190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4"/>
              </p:nvPr>
            </p:nvSpPr>
            <p:spPr>
              <a:xfrm>
                <a:off x="6480125" y="2211392"/>
                <a:ext cx="4996447" cy="3305175"/>
              </a:xfrm>
              <a:blipFill>
                <a:blip r:embed="rId3"/>
                <a:stretch>
                  <a:fillRect t="-1107" r="-13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F8FFFAA-7710-4258-7EE6-E84E1B27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 err="1"/>
              <a:t>Parallele</a:t>
            </a:r>
            <a:r>
              <a:rPr lang="en-US" sz="2400" dirty="0"/>
              <a:t> </a:t>
            </a:r>
            <a:r>
              <a:rPr lang="en-US" sz="2400" dirty="0" err="1"/>
              <a:t>Implementierung</a:t>
            </a:r>
            <a:endParaRPr lang="en-US" sz="2400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5CAE974-DA3F-BC31-4B5C-CCBB12D53C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 err="1"/>
              <a:t>Lineare</a:t>
            </a:r>
            <a:r>
              <a:rPr lang="en-US" sz="2400" dirty="0"/>
              <a:t> </a:t>
            </a:r>
            <a:r>
              <a:rPr lang="en-US" sz="2400" dirty="0" err="1"/>
              <a:t>Implementierung</a:t>
            </a:r>
            <a:endParaRPr lang="en-US" sz="24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D84FD4-A650-5F8C-4392-57EDE5884C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/>
          </a:bodyPr>
          <a:lstStyle/>
          <a:p>
            <a:r>
              <a:rPr lang="de-DE" dirty="0"/>
              <a:t>Laufzeitoptimierung durch Parallelisierung</a:t>
            </a:r>
          </a:p>
        </p:txBody>
      </p:sp>
    </p:spTree>
    <p:extLst>
      <p:ext uri="{BB962C8B-B14F-4D97-AF65-F5344CB8AC3E}">
        <p14:creationId xmlns:p14="http://schemas.microsoft.com/office/powerpoint/2010/main" val="107571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0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D5AB-8CAC-3738-2E48-3831C345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9DCBB3-86B4-7445-DD9A-961E782B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6F23BF-4B3B-5029-FD59-4BA48E1A68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Vergleich zu anderen Sortieralgorithmen</a:t>
            </a:r>
          </a:p>
        </p:txBody>
      </p:sp>
    </p:spTree>
    <p:extLst>
      <p:ext uri="{BB962C8B-B14F-4D97-AF65-F5344CB8AC3E}">
        <p14:creationId xmlns:p14="http://schemas.microsoft.com/office/powerpoint/2010/main" val="232266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0199-F84F-71EB-6805-5A0203DB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AAD61E6-1852-9259-ADD7-863138DE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C5B92BE-03B5-3B14-B261-44A8C6AD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50C7FA-C103-F70C-7C4E-29E149432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dirty="0"/>
              <a:t>Linearer Bitonic Sort verliert im Vergleich zu anderen etablierten linearen Sortieralgorithmen in Laufzeitvergleichen</a:t>
            </a:r>
          </a:p>
          <a:p>
            <a:pPr lvl="1"/>
            <a:r>
              <a:rPr lang="de-DE" sz="2000" dirty="0"/>
              <a:t>Z.B. </a:t>
            </a:r>
            <a:r>
              <a:rPr lang="de-DE" sz="2000" dirty="0" err="1"/>
              <a:t>MergeSort</a:t>
            </a:r>
            <a:r>
              <a:rPr lang="de-DE" sz="2000" dirty="0"/>
              <a:t>, </a:t>
            </a:r>
            <a:r>
              <a:rPr lang="de-DE" sz="2000" dirty="0" err="1"/>
              <a:t>QuickSort</a:t>
            </a:r>
            <a:r>
              <a:rPr lang="de-DE" sz="2000" dirty="0"/>
              <a:t>, </a:t>
            </a:r>
            <a:r>
              <a:rPr lang="de-DE" sz="2000" dirty="0" err="1"/>
              <a:t>HeapSort</a:t>
            </a:r>
            <a:endParaRPr lang="de-DE" sz="2000" dirty="0"/>
          </a:p>
          <a:p>
            <a:r>
              <a:rPr lang="de-DE" sz="2000" dirty="0"/>
              <a:t>Der parallele Bitonic Sort ist zwar schneller, verliert aber auch gegen andere parallele Algorithmen</a:t>
            </a:r>
          </a:p>
          <a:p>
            <a:pPr lvl="1"/>
            <a:r>
              <a:rPr lang="de-DE" sz="2000" dirty="0"/>
              <a:t>Z.B. Paralleler </a:t>
            </a:r>
            <a:r>
              <a:rPr lang="de-DE" sz="2000" dirty="0" err="1"/>
              <a:t>Mergesort</a:t>
            </a:r>
            <a:endParaRPr lang="de-DE" sz="2000" dirty="0"/>
          </a:p>
          <a:p>
            <a:r>
              <a:rPr lang="de-DE" sz="2000" dirty="0"/>
              <a:t>Stärke des Bitonic Sort liegt in seiner Möglichkeit ihn in Hardware zu implementieren</a:t>
            </a:r>
          </a:p>
          <a:p>
            <a:pPr lvl="1"/>
            <a:r>
              <a:rPr lang="de-DE" sz="2000" dirty="0"/>
              <a:t>Erstmalige Implementation im Paper von K. E. Batcher „Sorting </a:t>
            </a:r>
            <a:r>
              <a:rPr lang="de-DE" sz="2000" dirty="0" err="1"/>
              <a:t>networks</a:t>
            </a:r>
            <a:r>
              <a:rPr lang="de-DE" sz="2000" dirty="0"/>
              <a:t> and </a:t>
            </a:r>
            <a:r>
              <a:rPr lang="de-DE" sz="2000" dirty="0" err="1"/>
              <a:t>their</a:t>
            </a:r>
            <a:r>
              <a:rPr lang="de-DE" sz="2000" dirty="0"/>
              <a:t> </a:t>
            </a:r>
            <a:r>
              <a:rPr lang="de-DE" sz="2000" dirty="0" err="1"/>
              <a:t>applications</a:t>
            </a:r>
            <a:r>
              <a:rPr lang="de-DE" sz="2000" dirty="0"/>
              <a:t>“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133678-FE5E-2C15-3387-664A8E40C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Vergleich zu anderen Sortieralgorithmen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55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B78C-EE82-F8E5-D763-4E321F62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D73EA13-6D88-7198-9B27-BF69D783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A994C6-4B06-1E42-98F8-0C1765F30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51326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0168670-2211-A2B3-3963-F58DAC17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A4C2C3-5B0B-311E-3F6B-3B2A972D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20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FD774348-6B16-8B80-B01B-5377D15D7EB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sz="2400" dirty="0"/>
                  <a:t>Der Parallele Bitonic Sort ist nicht Sinnvoll als Sortieralgorithmus in Softwareandwendungen</a:t>
                </a:r>
              </a:p>
              <a:p>
                <a:pPr lvl="1"/>
                <a:r>
                  <a:rPr lang="de-DE" sz="2400" dirty="0"/>
                  <a:t>Voraussetzung an Arraylänge</a:t>
                </a:r>
              </a:p>
              <a:p>
                <a:pPr lvl="1"/>
                <a:r>
                  <a:rPr lang="de-DE" sz="2400" dirty="0"/>
                  <a:t> Komplexität von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/>
                  <a:t>Stattdessen: Mögliche Hardwareimplementierung auf hochparallelisierter Hardware</a:t>
                </a:r>
              </a:p>
              <a:p>
                <a:pPr lvl="1"/>
                <a:r>
                  <a:rPr lang="de-DE" sz="2400" dirty="0"/>
                  <a:t>Grafikkarten</a:t>
                </a:r>
              </a:p>
              <a:p>
                <a:pPr lvl="1"/>
                <a:r>
                  <a:rPr lang="de-DE" sz="2400" dirty="0"/>
                  <a:t>Sortiernetzwerke</a:t>
                </a:r>
              </a:p>
            </p:txBody>
          </p:sp>
        </mc:Choice>
        <mc:Fallback xmlns="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FD774348-6B16-8B80-B01B-5377D15D7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DF38FD-9011-7BF6-C9D9-56F549605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1587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EE58B85-E313-35D3-7F4D-D28F6F3E872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66193" y="3438942"/>
            <a:ext cx="6626087" cy="2857501"/>
          </a:xfrm>
          <a:prstGeom prst="rect">
            <a:avLst/>
          </a:prstGeom>
        </p:spPr>
        <p:txBody>
          <a:bodyPr anchor="b"/>
          <a:lstStyle/>
          <a:p>
            <a:r>
              <a:rPr lang="de-DE" sz="1600" dirty="0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Tobias Berend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Student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Angewandte Informatik</a:t>
            </a:r>
            <a:br>
              <a:rPr lang="de-DE" sz="1600" dirty="0">
                <a:solidFill>
                  <a:schemeClr val="bg1"/>
                </a:solidFill>
              </a:rPr>
            </a:b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 err="1">
                <a:solidFill>
                  <a:schemeClr val="bg1"/>
                </a:solidFill>
                <a:latin typeface="Source Sans Pro Light" panose="020B0403030403020204" pitchFamily="34" charset="77"/>
              </a:rPr>
              <a:t>tberend</a:t>
            </a: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@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stud.hs-offenburg.de</a:t>
            </a:r>
            <a:br>
              <a:rPr lang="de-DE" sz="1600" dirty="0">
                <a:solidFill>
                  <a:schemeClr val="bg1"/>
                </a:solidFill>
              </a:rPr>
            </a:b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Campus EMI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Badstraße 24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77652 Offenburg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endParaRPr lang="de-DE" sz="1600" b="0" dirty="0">
              <a:solidFill>
                <a:schemeClr val="bg1"/>
              </a:solidFill>
              <a:latin typeface="Source Sans Pro Light" panose="020B04030304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9676224"/>
      </p:ext>
    </p:extLst>
  </p:cSld>
  <p:clrMapOvr>
    <a:masterClrMapping/>
  </p:clrMapOvr>
</p:sld>
</file>

<file path=ppt/theme/theme1.xml><?xml version="1.0" encoding="utf-8"?>
<a:theme xmlns:a="http://schemas.openxmlformats.org/drawingml/2006/main" name="16-9_HO_PPT-Vorlage">
  <a:themeElements>
    <a:clrScheme name="CD Hochschule Offenburg 2023">
      <a:dk1>
        <a:srgbClr val="111F6D"/>
      </a:dk1>
      <a:lt1>
        <a:srgbClr val="FFFFFF"/>
      </a:lt1>
      <a:dk2>
        <a:srgbClr val="111F6D"/>
      </a:dk2>
      <a:lt2>
        <a:srgbClr val="FF0000"/>
      </a:lt2>
      <a:accent1>
        <a:srgbClr val="FFEB00"/>
      </a:accent1>
      <a:accent2>
        <a:srgbClr val="FF6A00"/>
      </a:accent2>
      <a:accent3>
        <a:srgbClr val="FF4193"/>
      </a:accent3>
      <a:accent4>
        <a:srgbClr val="00A9FF"/>
      </a:accent4>
      <a:accent5>
        <a:srgbClr val="00C2C9"/>
      </a:accent5>
      <a:accent6>
        <a:srgbClr val="2CBE00"/>
      </a:accent6>
      <a:hlink>
        <a:srgbClr val="00A9FF"/>
      </a:hlink>
      <a:folHlink>
        <a:srgbClr val="111F6D"/>
      </a:folHlink>
    </a:clrScheme>
    <a:fontScheme name="Textkörper">
      <a:majorFont>
        <a:latin typeface="Source Serif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_PPT_Vorlage_7_offen" id="{A9A13AB2-DC52-5B45-85C1-C3426DEA5124}" vid="{CAC553DE-3BF7-324D-8D50-335B10F09B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16-9_HO_PPT-Vorlage</Template>
  <TotalTime>0</TotalTime>
  <Words>577</Words>
  <Application>Microsoft Office PowerPoint</Application>
  <PresentationFormat>Breitbild</PresentationFormat>
  <Paragraphs>132</Paragraphs>
  <Slides>20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Source Sans Pro</vt:lpstr>
      <vt:lpstr>Source Sans Pro Light</vt:lpstr>
      <vt:lpstr>Source Sans Pro Semibold</vt:lpstr>
      <vt:lpstr>Source Serif Pro Semibold</vt:lpstr>
      <vt:lpstr>16-9_HO_PPT-Vorlage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Tobias Berend Student Angewandte Informatik  tberend@ stud.hs-offenburg.de  Campus EMI Badstraße 24 77652 Offenburg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Christina Dosse</dc:creator>
  <cp:lastModifiedBy>Tobias Berend</cp:lastModifiedBy>
  <cp:revision>9</cp:revision>
  <dcterms:created xsi:type="dcterms:W3CDTF">2023-12-18T11:43:55Z</dcterms:created>
  <dcterms:modified xsi:type="dcterms:W3CDTF">2026-06-07T13:26:37Z</dcterms:modified>
</cp:coreProperties>
</file>